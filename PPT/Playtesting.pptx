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71" r:id="rId11"/>
    <p:sldId id="265" r:id="rId12"/>
    <p:sldId id="266" r:id="rId13"/>
    <p:sldId id="267" r:id="rId14"/>
    <p:sldId id="269" r:id="rId15"/>
    <p:sldId id="270" r:id="rId16"/>
    <p:sldId id="268" r:id="rId1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83" d="100"/>
          <a:sy n="83" d="100"/>
        </p:scale>
        <p:origin x="408" y="5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C87FE61-9F9C-4D34-8E98-EC581440005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163183F-2936-4B06-99D8-040B8A07EC0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F0C9F9C-57A8-48B1-AA52-2B57D65D825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E322444-AC78-4D7E-B8B8-5ACC761D4F45}" type="datetimeFigureOut">
              <a:rPr lang="en-US" smtClean="0"/>
              <a:t>7/20/2026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4C52307-17C1-4172-9A9F-028808EF2C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BF5DAA5-8D4A-4B12-988C-AB569E1A2E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447038-879C-4F69-9CB4-16F4ED8BA2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108924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6A3CDE9-8F58-4CE0-B201-F71C0DE32C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C14C351-3BB3-4EDE-994D-B572A359B02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5BD59F9-C64E-415C-BC18-4DBB0DACFF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E322444-AC78-4D7E-B8B8-5ACC761D4F45}" type="datetimeFigureOut">
              <a:rPr lang="en-US" smtClean="0"/>
              <a:t>7/20/2026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8865A16-9E8F-41F8-996B-9503E158E2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D5738B1-7A57-46AC-BD2E-32B8391F61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447038-879C-4F69-9CB4-16F4ED8BA2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9247793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56EAFB-7034-46B4-AC79-A9E63B8015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FCCE6DC-B4AF-44BE-A7CB-E270A798C7F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F6F4C7C-D29A-45C6-BBD1-2CF32CD152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E322444-AC78-4D7E-B8B8-5ACC761D4F45}" type="datetimeFigureOut">
              <a:rPr lang="en-US" smtClean="0"/>
              <a:t>7/20/2026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79EC215-C742-4D25-A5AB-7EC84EC4D8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7729098-4C9E-4B4E-83B5-7F5D433609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447038-879C-4F69-9CB4-16F4ED8BA2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9701461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86C900-605F-411A-B74D-B19D028F15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9C09642-247E-41D6-8C39-AE692F41492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C726053-A8B6-416F-9E48-C6FAA455639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7021907-04AA-4C44-AB81-BFA08CA3382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E322444-AC78-4D7E-B8B8-5ACC761D4F45}" type="datetimeFigureOut">
              <a:rPr lang="en-US" smtClean="0"/>
              <a:t>7/20/2026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3CC62FB-8BE3-4A67-9A3D-A9C7A54CE27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EE204D6-8BE9-4D7A-8B00-09B5F775BE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447038-879C-4F69-9CB4-16F4ED8BA2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613732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6C8CEB-CA0B-4220-87DB-00ED45D4AB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D7F7916-F4AC-43A2-B8C9-91A0576961B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AD94F77-732C-43A4-A625-0D10FBB5FDE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0A66313-117F-4921-B568-2707EF2E17C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12B84679-EEB4-40B4-89B8-6A552B82C86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2063A89A-C68C-4A9F-9554-6086E615254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E322444-AC78-4D7E-B8B8-5ACC761D4F45}" type="datetimeFigureOut">
              <a:rPr lang="en-US" smtClean="0"/>
              <a:t>7/20/2026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EB74FD0B-153D-467C-8036-F2090DA264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BBBCA362-951D-4706-956A-64723DAE27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447038-879C-4F69-9CB4-16F4ED8BA2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8815968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3C181BE-506B-4E42-BBDE-8943B49449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B8FABCD-6BB1-4F11-AB57-EE2765AD32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E322444-AC78-4D7E-B8B8-5ACC761D4F45}" type="datetimeFigureOut">
              <a:rPr lang="en-US" smtClean="0"/>
              <a:t>7/20/2026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0B4EB42-BEC6-47EE-9887-83ADD2252C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FA7B7F7-4D16-4FDC-AAA2-CD119DDA61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447038-879C-4F69-9CB4-16F4ED8BA2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4684213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13C21C9C-0FE0-4DD0-98BD-71ECDE34DCB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E322444-AC78-4D7E-B8B8-5ACC761D4F45}" type="datetimeFigureOut">
              <a:rPr lang="en-US" smtClean="0"/>
              <a:t>7/20/2026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D8FB4DA-AA75-4796-8A16-78EEF206C5F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D249D39-AD40-4DDE-AD1B-6313860E20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447038-879C-4F69-9CB4-16F4ED8BA2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7435103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18F0C7-A88F-47DE-A8F1-E342909FBE4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F6B8782-1C90-40DF-8414-84FE4BB0742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817B1F2-69DE-46B2-8FD0-1836E6C28D9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F8FA017-961F-4F4B-A0B2-69550EE847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E322444-AC78-4D7E-B8B8-5ACC761D4F45}" type="datetimeFigureOut">
              <a:rPr lang="en-US" smtClean="0"/>
              <a:t>7/20/2026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A02DF7D-B578-4297-A937-452EC292314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D2B6D8F-D4FD-4848-9493-D2037D4418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447038-879C-4F69-9CB4-16F4ED8BA2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5444919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3B6BE1-03F5-4E45-B0A0-02D1296B31B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FAB622B5-1AA4-432F-993E-5A0EA9B9859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F0A4644-9493-46E2-9008-FF883230C49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7838EED-B371-4EB6-9E63-EA5F9EC745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E322444-AC78-4D7E-B8B8-5ACC761D4F45}" type="datetimeFigureOut">
              <a:rPr lang="en-US" smtClean="0"/>
              <a:t>7/20/2026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6E3F8C5-57C7-420B-AED9-A151540BC8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E480D0D-15C9-4653-858A-87246CD36F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447038-879C-4F69-9CB4-16F4ED8BA2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022585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CDB797-2F79-4D80-9433-86156C091E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EA07A6D-E637-4ECA-8800-1CA163B4E8D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49C4F55-5F45-4303-985A-3F7778AC47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E322444-AC78-4D7E-B8B8-5ACC761D4F45}" type="datetimeFigureOut">
              <a:rPr lang="en-US" smtClean="0"/>
              <a:t>7/20/2026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3E247D6-4532-4120-9792-66BD343A9F8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202863C-3344-4796-8592-AF4D61EE02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447038-879C-4F69-9CB4-16F4ED8BA2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4286743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20641D0A-DE45-4FF4-B981-88C095ADEB3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68AFE3B-763E-41BF-9D64-1F48683EC36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3DB01D3-70B4-4094-934D-67356CDC065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E322444-AC78-4D7E-B8B8-5ACC761D4F45}" type="datetimeFigureOut">
              <a:rPr lang="en-US" smtClean="0"/>
              <a:t>7/20/2026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92C520D-8378-49F0-9007-D24A71CBC25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691D1BC-E154-4433-87BE-4C0B8460B8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447038-879C-4F69-9CB4-16F4ED8BA2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0914072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0162DFF5-8A52-4E42-B3AF-3848A71F661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1391487-32BC-4A29-822D-262B8C67178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7FAFCA0-D857-4A8E-98D1-3FF4883D9E5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E322444-AC78-4D7E-B8B8-5ACC761D4F45}" type="datetimeFigureOut">
              <a:rPr lang="en-US" smtClean="0"/>
              <a:t>7/20/2026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8A22F61-65BC-4D06-9BF4-80004CB4B03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C938AED-4AD7-4B54-90D4-15D745D15B9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0447038-879C-4F69-9CB4-16F4ED8BA2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7453737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myuwbclasses.github.io/IntroGameDevelopment/Exercises/FinalGame/Consideations.html" TargetMode="Externa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.png"/><Relationship Id="rId4" Type="http://schemas.openxmlformats.org/officeDocument/2006/relationships/hyperlink" Target="https://myuwbclasses.github.io/IntroGameDevelopment/Exercises/FinalGame/FeedbackTemplate.html" TargetMode="Externa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841218A-8B3D-4590-B666-F64FD30ED0C5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Playtesting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3603A85-79B5-4E73-9EB1-2BF2281531D1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Chapter 9 of </a:t>
            </a:r>
          </a:p>
          <a:p>
            <a:r>
              <a:rPr lang="en-US" i="1" dirty="0"/>
              <a:t>Game Design Workshop a play centric approach to creating innovative games</a:t>
            </a:r>
            <a:r>
              <a:rPr lang="en-US" dirty="0"/>
              <a:t>, Tracy Fullerton, Burlington, MA, Morgan Kaufmann, 2008.</a:t>
            </a:r>
          </a:p>
        </p:txBody>
      </p:sp>
    </p:spTree>
    <p:extLst>
      <p:ext uri="{BB962C8B-B14F-4D97-AF65-F5344CB8AC3E}">
        <p14:creationId xmlns:p14="http://schemas.microsoft.com/office/powerpoint/2010/main" val="80727657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DF2A21-5CAA-4090-B564-F2492EA8A6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Involves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5D29C19-79EC-44FD-8155-F6C061DF04D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fontAlgn="ctr"/>
            <a:r>
              <a:rPr lang="en-US" dirty="0"/>
              <a:t>Selection</a:t>
            </a:r>
          </a:p>
          <a:p>
            <a:pPr fontAlgn="ctr"/>
            <a:r>
              <a:rPr lang="en-US" dirty="0"/>
              <a:t>Recruiting</a:t>
            </a:r>
          </a:p>
          <a:p>
            <a:pPr fontAlgn="ctr"/>
            <a:r>
              <a:rPr lang="en-US" dirty="0"/>
              <a:t>Preparation </a:t>
            </a:r>
          </a:p>
          <a:p>
            <a:pPr fontAlgn="ctr"/>
            <a:r>
              <a:rPr lang="en-US" dirty="0"/>
              <a:t>Controls </a:t>
            </a:r>
          </a:p>
          <a:p>
            <a:pPr fontAlgn="ctr"/>
            <a:r>
              <a:rPr lang="en-US" dirty="0"/>
              <a:t>Analysis</a:t>
            </a:r>
          </a:p>
        </p:txBody>
      </p:sp>
    </p:spTree>
    <p:extLst>
      <p:ext uri="{BB962C8B-B14F-4D97-AF65-F5344CB8AC3E}">
        <p14:creationId xmlns:p14="http://schemas.microsoft.com/office/powerpoint/2010/main" val="265254480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FD901D-7135-4F39-B84F-18ADCA6308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Playtesting is NOT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D1ED9E6-33FE-4D40-9737-3A517763665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fontAlgn="ctr"/>
            <a:r>
              <a:rPr lang="en-US" dirty="0"/>
              <a:t>NOT  Internal Design Review</a:t>
            </a:r>
          </a:p>
          <a:p>
            <a:pPr lvl="1" fontAlgn="ctr"/>
            <a:r>
              <a:rPr lang="en-US" i="1" dirty="0"/>
              <a:t>When design play the game and evaluate</a:t>
            </a:r>
            <a:endParaRPr lang="en-US" dirty="0"/>
          </a:p>
          <a:p>
            <a:pPr lvl="1" fontAlgn="ctr"/>
            <a:r>
              <a:rPr lang="en-US" i="1" dirty="0"/>
              <a:t>This is call internal design review</a:t>
            </a:r>
            <a:endParaRPr lang="en-US" dirty="0"/>
          </a:p>
          <a:p>
            <a:pPr fontAlgn="ctr"/>
            <a:r>
              <a:rPr lang="en-US" dirty="0"/>
              <a:t>NOT  QA Testing for assurance</a:t>
            </a:r>
          </a:p>
          <a:p>
            <a:pPr fontAlgn="ctr"/>
            <a:r>
              <a:rPr lang="en-US" dirty="0"/>
              <a:t>NOT  Focus Group Testing</a:t>
            </a:r>
          </a:p>
          <a:p>
            <a:pPr lvl="1" fontAlgn="ctr"/>
            <a:r>
              <a:rPr lang="en-US" i="1" dirty="0"/>
              <a:t>marketing execs sitting behind two-way mirrors watching group play and deciding how much to pay for the game</a:t>
            </a:r>
            <a:endParaRPr lang="en-US" dirty="0"/>
          </a:p>
          <a:p>
            <a:pPr fontAlgn="ctr"/>
            <a:r>
              <a:rPr lang="en-US" dirty="0"/>
              <a:t>NOT  Usability Testing:</a:t>
            </a:r>
          </a:p>
          <a:p>
            <a:pPr lvl="1" fontAlgn="ctr"/>
            <a:r>
              <a:rPr lang="en-US" i="1" dirty="0"/>
              <a:t>when you analyze how user interface with your interface by tracking their mouse movement or eye movements</a:t>
            </a:r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9832214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3D246D-1E37-4B12-8E04-5A8AA2A7F3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Playtesting Goals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7746E09-C766-4943-8B5B-5E33077134D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dirty="0"/>
              <a:t>Useful feedback from players to improve the overall experience of the game</a:t>
            </a:r>
            <a:endParaRPr lang="en-US" b="1" dirty="0"/>
          </a:p>
          <a:p>
            <a:pPr lvl="0"/>
            <a:r>
              <a:rPr lang="en-US" dirty="0"/>
              <a:t>Make sure the game is functioning the way you intend.</a:t>
            </a:r>
            <a:endParaRPr lang="en-US" b="1" dirty="0"/>
          </a:p>
          <a:p>
            <a:pPr lvl="1"/>
            <a:r>
              <a:rPr lang="en-US" i="1" dirty="0"/>
              <a:t>Internally Complete</a:t>
            </a:r>
            <a:endParaRPr lang="en-US" b="1" i="1" dirty="0"/>
          </a:p>
          <a:p>
            <a:pPr lvl="1"/>
            <a:r>
              <a:rPr lang="en-US" i="1" dirty="0"/>
              <a:t>Balance</a:t>
            </a:r>
            <a:endParaRPr lang="en-US" b="1" i="1" dirty="0"/>
          </a:p>
          <a:p>
            <a:pPr lvl="1"/>
            <a:r>
              <a:rPr lang="en-US" i="1" dirty="0"/>
              <a:t>Fun to Play</a:t>
            </a:r>
            <a:endParaRPr lang="en-US" b="1" i="1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3587340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3FC7C5-D261-494A-9753-B03193749D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Playtesting and Interactive Design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345E82A-FA62-40D0-A8B1-9C312C0D7A0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Designer’s </a:t>
            </a:r>
            <a:r>
              <a:rPr lang="en-US" dirty="0"/>
              <a:t>role: Advocate for the user</a:t>
            </a:r>
          </a:p>
          <a:p>
            <a:pPr lvl="1"/>
            <a:r>
              <a:rPr lang="en-US" i="1" dirty="0"/>
              <a:t>Keep the players’ needs and perspective throughout the design and production process</a:t>
            </a:r>
          </a:p>
          <a:p>
            <a:pPr lvl="0"/>
            <a:r>
              <a:rPr lang="en-US" dirty="0"/>
              <a:t>Reason for playtesting: </a:t>
            </a:r>
          </a:p>
          <a:p>
            <a:pPr lvl="1"/>
            <a:r>
              <a:rPr lang="en-US" i="1" dirty="0"/>
              <a:t>Keep the game from straying</a:t>
            </a:r>
          </a:p>
          <a:p>
            <a:pPr lvl="0"/>
            <a:r>
              <a:rPr lang="en-US" dirty="0"/>
              <a:t>Playtesting should be tightly integrated in development/production process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9509751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7923AA-7320-4E8A-9B0E-C5FB889A3E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Recruitment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4A9677E-B0F4-4E55-BCBC-2DFD03DC049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/>
            <a:r>
              <a:rPr lang="en-US" dirty="0"/>
              <a:t>Self-test is important</a:t>
            </a:r>
          </a:p>
          <a:p>
            <a:r>
              <a:rPr lang="en-US" dirty="0"/>
              <a:t>Confidants: friends and colleague</a:t>
            </a:r>
          </a:p>
          <a:p>
            <a:pPr lvl="1"/>
            <a:r>
              <a:rPr lang="en-US" i="1" dirty="0"/>
              <a:t>Provide fresh eyes</a:t>
            </a:r>
          </a:p>
          <a:p>
            <a:pPr lvl="1"/>
            <a:r>
              <a:rPr lang="en-US" i="1" dirty="0"/>
              <a:t>Help them test (early stage can be confusing)</a:t>
            </a:r>
          </a:p>
          <a:p>
            <a:pPr lvl="1"/>
            <a:r>
              <a:rPr lang="en-US" i="1" dirty="0"/>
              <a:t>When game become playable, move on!!</a:t>
            </a:r>
          </a:p>
          <a:p>
            <a:pPr lvl="0"/>
            <a:r>
              <a:rPr lang="en-US" dirty="0"/>
              <a:t>People you don’t know</a:t>
            </a:r>
          </a:p>
          <a:p>
            <a:pPr lvl="1"/>
            <a:r>
              <a:rPr lang="en-US" i="1" dirty="0"/>
              <a:t>Unbiased feedback</a:t>
            </a:r>
          </a:p>
          <a:p>
            <a:pPr lvl="0"/>
            <a:r>
              <a:rPr lang="en-US" dirty="0"/>
              <a:t>Find the “ideal players”</a:t>
            </a:r>
          </a:p>
          <a:p>
            <a:pPr lvl="1"/>
            <a:r>
              <a:rPr lang="en-US" i="1" dirty="0"/>
              <a:t>Know your target and recruit accordingly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7826022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3D566C-FCE4-4582-BC7C-968DA27A7A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Considerations for a playtest session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59331A5-0CC4-4BE3-B204-9B8CC12683D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 lvl="0"/>
            <a:r>
              <a:rPr lang="en-US" dirty="0"/>
              <a:t>DO NOT help tester with game play</a:t>
            </a:r>
          </a:p>
          <a:p>
            <a:pPr lvl="1"/>
            <a:r>
              <a:rPr lang="en-US" i="1" dirty="0"/>
              <a:t>Think what comes in the box (typical instructions/tutorials for players) are fine</a:t>
            </a:r>
          </a:p>
          <a:p>
            <a:pPr lvl="0"/>
            <a:r>
              <a:rPr lang="en-US" dirty="0"/>
              <a:t>Think of yourself as an investigator/observer</a:t>
            </a:r>
          </a:p>
          <a:p>
            <a:pPr lvl="1"/>
            <a:r>
              <a:rPr lang="en-US" i="1" dirty="0"/>
              <a:t>Record what they say, do and analyze their responses</a:t>
            </a:r>
          </a:p>
          <a:p>
            <a:pPr lvl="1"/>
            <a:r>
              <a:rPr lang="en-US" i="1" dirty="0"/>
              <a:t>Let them make mistakes</a:t>
            </a:r>
          </a:p>
          <a:p>
            <a:pPr lvl="2"/>
            <a:r>
              <a:rPr lang="en-US" dirty="0"/>
              <a:t>Best way to learn about your game!!</a:t>
            </a:r>
          </a:p>
          <a:p>
            <a:pPr lvl="1"/>
            <a:r>
              <a:rPr lang="en-US" i="1" dirty="0"/>
              <a:t>Observe how each person approach the game</a:t>
            </a:r>
          </a:p>
          <a:p>
            <a:pPr lvl="1"/>
            <a:r>
              <a:rPr lang="en-US" i="1" dirty="0"/>
              <a:t>Are the rules confusing?</a:t>
            </a:r>
          </a:p>
          <a:p>
            <a:pPr lvl="0">
              <a:lnSpc>
                <a:spcPct val="120000"/>
              </a:lnSpc>
            </a:pPr>
            <a:r>
              <a:rPr lang="en-US" dirty="0"/>
              <a:t>Let an objective person run the session</a:t>
            </a:r>
          </a:p>
          <a:p>
            <a:pPr lvl="1">
              <a:lnSpc>
                <a:spcPct val="120000"/>
              </a:lnSpc>
            </a:pPr>
            <a:r>
              <a:rPr lang="en-US" i="1" dirty="0"/>
              <a:t>You be an observe and just observe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2471108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DD501E-62DF-4A62-B9E7-74C642BAE9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 playtest session: plan and stick to the plan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F557F1D-7E65-41FD-9235-1A435CD3077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0000" lnSpcReduction="20000"/>
          </a:bodyPr>
          <a:lstStyle/>
          <a:p>
            <a:pPr>
              <a:lnSpc>
                <a:spcPct val="120000"/>
              </a:lnSpc>
            </a:pPr>
            <a:r>
              <a:rPr lang="en-US" dirty="0"/>
              <a:t>Introduction (2-3 minutes): Laying down the ground rules</a:t>
            </a:r>
          </a:p>
          <a:p>
            <a:pPr>
              <a:lnSpc>
                <a:spcPct val="120000"/>
              </a:lnSpc>
            </a:pPr>
            <a:r>
              <a:rPr lang="en-US" dirty="0"/>
              <a:t>Warm-up Discussion (5 minutes): Assess their background</a:t>
            </a:r>
          </a:p>
          <a:p>
            <a:pPr>
              <a:lnSpc>
                <a:spcPct val="120000"/>
              </a:lnSpc>
            </a:pPr>
            <a:r>
              <a:rPr lang="en-US" dirty="0"/>
              <a:t>Play session (15-20 minutes)</a:t>
            </a:r>
          </a:p>
          <a:p>
            <a:pPr lvl="1">
              <a:lnSpc>
                <a:spcPct val="120000"/>
              </a:lnSpc>
            </a:pPr>
            <a:r>
              <a:rPr lang="en-US" dirty="0"/>
              <a:t>Testing of game not skill</a:t>
            </a:r>
          </a:p>
          <a:p>
            <a:pPr lvl="1">
              <a:lnSpc>
                <a:spcPct val="120000"/>
              </a:lnSpc>
            </a:pPr>
            <a:r>
              <a:rPr lang="en-US" dirty="0"/>
              <a:t>No wrong answers</a:t>
            </a:r>
          </a:p>
          <a:p>
            <a:pPr lvl="1">
              <a:lnSpc>
                <a:spcPct val="120000"/>
              </a:lnSpc>
            </a:pPr>
            <a:r>
              <a:rPr lang="en-US" dirty="0"/>
              <a:t>Tester should THINK OUT LOUD [Observer should remind them to think aloud]</a:t>
            </a:r>
          </a:p>
          <a:p>
            <a:pPr lvl="1">
              <a:lnSpc>
                <a:spcPct val="120000"/>
              </a:lnSpc>
            </a:pPr>
            <a:r>
              <a:rPr lang="en-US" dirty="0"/>
              <a:t>Observe QUIETLY!</a:t>
            </a:r>
          </a:p>
          <a:p>
            <a:pPr lvl="0">
              <a:lnSpc>
                <a:spcPct val="120000"/>
              </a:lnSpc>
            </a:pPr>
            <a:r>
              <a:rPr lang="en-US" dirty="0"/>
              <a:t>Discussion of experience (15-20 minutes): Develop set of questions on </a:t>
            </a:r>
          </a:p>
          <a:p>
            <a:pPr lvl="1">
              <a:lnSpc>
                <a:spcPct val="120000"/>
              </a:lnSpc>
            </a:pPr>
            <a:r>
              <a:rPr lang="en-US" dirty="0"/>
              <a:t>Overall appeal</a:t>
            </a:r>
          </a:p>
          <a:p>
            <a:pPr lvl="1">
              <a:lnSpc>
                <a:spcPct val="120000"/>
              </a:lnSpc>
            </a:pPr>
            <a:r>
              <a:rPr lang="en-US" dirty="0"/>
              <a:t>Interest level</a:t>
            </a:r>
          </a:p>
          <a:p>
            <a:pPr lvl="1">
              <a:lnSpc>
                <a:spcPct val="120000"/>
              </a:lnSpc>
            </a:pPr>
            <a:r>
              <a:rPr lang="en-US" dirty="0"/>
              <a:t>Challenge level</a:t>
            </a:r>
          </a:p>
          <a:p>
            <a:pPr lvl="1">
              <a:lnSpc>
                <a:spcPct val="120000"/>
              </a:lnSpc>
            </a:pPr>
            <a:r>
              <a:rPr lang="en-US" dirty="0"/>
              <a:t>Understanding of game feature</a:t>
            </a:r>
          </a:p>
        </p:txBody>
      </p:sp>
    </p:spTree>
    <p:extLst>
      <p:ext uri="{BB962C8B-B14F-4D97-AF65-F5344CB8AC3E}">
        <p14:creationId xmlns:p14="http://schemas.microsoft.com/office/powerpoint/2010/main" val="56259652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41DDDE-012C-4CD6-894E-D2D1B64D20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As developer: look for room to improve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F4DF420-5FE6-463F-A79A-8698C492708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lnSpc>
                <a:spcPct val="120000"/>
              </a:lnSpc>
            </a:pPr>
            <a:r>
              <a:rPr lang="en-US" dirty="0"/>
              <a:t>SHUT UP</a:t>
            </a:r>
          </a:p>
          <a:p>
            <a:pPr lvl="1">
              <a:lnSpc>
                <a:spcPct val="120000"/>
              </a:lnSpc>
            </a:pPr>
            <a:r>
              <a:rPr lang="en-US" dirty="0"/>
              <a:t>Learn to listen</a:t>
            </a:r>
          </a:p>
          <a:p>
            <a:pPr>
              <a:lnSpc>
                <a:spcPct val="120000"/>
              </a:lnSpc>
            </a:pPr>
            <a:r>
              <a:rPr lang="en-US" dirty="0"/>
              <a:t>Avoid being defensive!</a:t>
            </a:r>
          </a:p>
          <a:p>
            <a:pPr lvl="1">
              <a:lnSpc>
                <a:spcPct val="120000"/>
              </a:lnSpc>
            </a:pPr>
            <a:r>
              <a:rPr lang="en-US" dirty="0"/>
              <a:t>DO NOT explain what you try to do [they don’t need to care]</a:t>
            </a:r>
          </a:p>
          <a:p>
            <a:pPr>
              <a:lnSpc>
                <a:spcPct val="120000"/>
              </a:lnSpc>
            </a:pPr>
            <a:r>
              <a:rPr lang="en-US" dirty="0"/>
              <a:t>Do NOT lead the tester</a:t>
            </a:r>
          </a:p>
          <a:p>
            <a:pPr>
              <a:lnSpc>
                <a:spcPct val="120000"/>
              </a:lnSpc>
            </a:pPr>
            <a:r>
              <a:rPr lang="en-US" dirty="0"/>
              <a:t>Make sure you understand what testers are saying</a:t>
            </a:r>
          </a:p>
          <a:p>
            <a:pPr lvl="1">
              <a:lnSpc>
                <a:spcPct val="120000"/>
              </a:lnSpc>
            </a:pPr>
            <a:r>
              <a:rPr lang="en-US" dirty="0"/>
              <a:t>It is not what you try to do, it is what the players experience!</a:t>
            </a:r>
          </a:p>
          <a:p>
            <a:pPr lvl="1">
              <a:lnSpc>
                <a:spcPct val="120000"/>
              </a:lnSpc>
            </a:pPr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5305355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019F03-DC8B-C5BC-4208-4355C8FAA0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As a </a:t>
            </a:r>
            <a:r>
              <a:rPr lang="en-US" dirty="0" err="1"/>
              <a:t>playtester</a:t>
            </a:r>
            <a:r>
              <a:rPr lang="en-US" dirty="0"/>
              <a:t>: help to improve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7F5FCBC-FA2C-C5CE-5E16-D9981036D80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Listen to any specific instructions from the developer</a:t>
            </a:r>
          </a:p>
          <a:p>
            <a:r>
              <a:rPr lang="en-US" dirty="0"/>
              <a:t>Play </a:t>
            </a:r>
            <a:r>
              <a:rPr lang="en-US" i="1" dirty="0"/>
              <a:t>honestly DO NOT</a:t>
            </a:r>
            <a:endParaRPr lang="en-US" dirty="0"/>
          </a:p>
          <a:p>
            <a:pPr lvl="1"/>
            <a:r>
              <a:rPr lang="en-US" altLang="zh-CN" dirty="0"/>
              <a:t>Ask for general help</a:t>
            </a:r>
            <a:endParaRPr lang="en-US" dirty="0"/>
          </a:p>
          <a:p>
            <a:pPr lvl="1"/>
            <a:r>
              <a:rPr lang="en-US" dirty="0"/>
              <a:t>Exploit obvious bugs</a:t>
            </a:r>
          </a:p>
          <a:p>
            <a:pPr lvl="1"/>
            <a:r>
              <a:rPr lang="en-US" dirty="0"/>
              <a:t>Look for obvious boundary conditions (unless you are asked)</a:t>
            </a:r>
          </a:p>
          <a:p>
            <a:r>
              <a:rPr lang="en-US" dirty="0"/>
              <a:t>Do:</a:t>
            </a:r>
          </a:p>
          <a:p>
            <a:pPr lvl="1"/>
            <a:r>
              <a:rPr lang="en-US" altLang="zh-CN" dirty="0"/>
              <a:t>Ask questions (different from help)</a:t>
            </a:r>
          </a:p>
          <a:p>
            <a:pPr lvl="1"/>
            <a:r>
              <a:rPr lang="en-US" dirty="0"/>
              <a:t>Be objective</a:t>
            </a:r>
          </a:p>
          <a:p>
            <a:pPr lvl="1"/>
            <a:r>
              <a:rPr lang="en-US" dirty="0"/>
              <a:t>Take notes: what you like and dislike</a:t>
            </a:r>
          </a:p>
          <a:p>
            <a:pPr lvl="2"/>
            <a:r>
              <a:rPr lang="en-US" dirty="0"/>
              <a:t>Provide suggestions</a:t>
            </a:r>
          </a:p>
        </p:txBody>
      </p:sp>
    </p:spTree>
    <p:extLst>
      <p:ext uri="{BB962C8B-B14F-4D97-AF65-F5344CB8AC3E}">
        <p14:creationId xmlns:p14="http://schemas.microsoft.com/office/powerpoint/2010/main" val="292568788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6BB18A2-CF10-4F6B-9D42-EDA255A766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Methods of playtesting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0F29F76-891B-4ED4-9CEB-1CAAA575883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0000" lnSpcReduction="20000"/>
          </a:bodyPr>
          <a:lstStyle/>
          <a:p>
            <a:pPr lvl="0"/>
            <a:r>
              <a:rPr lang="en-US" dirty="0"/>
              <a:t>Group vs One-on-one</a:t>
            </a:r>
          </a:p>
          <a:p>
            <a:pPr lvl="1"/>
            <a:r>
              <a:rPr lang="en-US" dirty="0"/>
              <a:t>Group is good for generating ideas, but not as good for evaluating ideas!</a:t>
            </a:r>
          </a:p>
          <a:p>
            <a:pPr lvl="1"/>
            <a:r>
              <a:rPr lang="en-US" dirty="0"/>
              <a:t>One-on-One testing: detailed observation</a:t>
            </a:r>
          </a:p>
          <a:p>
            <a:pPr lvl="0"/>
            <a:r>
              <a:rPr lang="en-US" dirty="0"/>
              <a:t>Group testing:</a:t>
            </a:r>
          </a:p>
          <a:p>
            <a:pPr lvl="1"/>
            <a:r>
              <a:rPr lang="en-US" i="1" dirty="0"/>
              <a:t>Group play the game together</a:t>
            </a:r>
          </a:p>
          <a:p>
            <a:pPr lvl="1"/>
            <a:r>
              <a:rPr lang="en-US" i="1" dirty="0"/>
              <a:t>Observe the group and ask questions as they play</a:t>
            </a:r>
          </a:p>
          <a:p>
            <a:pPr lvl="0"/>
            <a:r>
              <a:rPr lang="en-US" dirty="0"/>
              <a:t>Feedback forms:</a:t>
            </a:r>
          </a:p>
          <a:p>
            <a:pPr lvl="1"/>
            <a:r>
              <a:rPr lang="en-US" i="1" dirty="0"/>
              <a:t>Give each a list of questions</a:t>
            </a:r>
          </a:p>
          <a:p>
            <a:pPr lvl="1"/>
            <a:r>
              <a:rPr lang="en-US" i="1" dirty="0"/>
              <a:t>Collect both quantitative (numbers, rank) and Qualitative feedbacks (what do you think) </a:t>
            </a:r>
          </a:p>
          <a:p>
            <a:pPr lvl="0"/>
            <a:r>
              <a:rPr lang="en-US" dirty="0"/>
              <a:t>Interview</a:t>
            </a:r>
          </a:p>
          <a:p>
            <a:pPr lvl="1"/>
            <a:r>
              <a:rPr lang="en-US" i="1" dirty="0"/>
              <a:t>One-on-one</a:t>
            </a:r>
          </a:p>
          <a:p>
            <a:pPr lvl="0"/>
            <a:r>
              <a:rPr lang="en-US" dirty="0"/>
              <a:t>Open discussion:</a:t>
            </a:r>
          </a:p>
          <a:p>
            <a:pPr lvl="1"/>
            <a:r>
              <a:rPr lang="en-US" i="1" dirty="0"/>
              <a:t>Group discuss in free-form format</a:t>
            </a:r>
          </a:p>
          <a:p>
            <a:pPr lvl="0"/>
            <a:r>
              <a:rPr lang="en-US" dirty="0"/>
              <a:t>Data hook: </a:t>
            </a:r>
          </a:p>
          <a:p>
            <a:pPr lvl="1"/>
            <a:r>
              <a:rPr lang="en-US" i="1" dirty="0"/>
              <a:t>Collect user movements as a away to understand how user perceive the game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412641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6A2952E-2E6F-41B0-BDE8-9CD1990F11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Play Matrix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0409317-D451-4D60-B0AE-8F8D3FABB6F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dirty="0"/>
              <a:t>Ask tester to plot games on this graph</a:t>
            </a:r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B51999F2-9502-4D6E-B5E1-8CBB2E0263D3}"/>
              </a:ext>
            </a:extLst>
          </p:cNvPr>
          <p:cNvGrpSpPr/>
          <p:nvPr/>
        </p:nvGrpSpPr>
        <p:grpSpPr>
          <a:xfrm>
            <a:off x="3564904" y="2871623"/>
            <a:ext cx="4764342" cy="3573471"/>
            <a:chOff x="6589458" y="1816546"/>
            <a:chExt cx="4764342" cy="3573471"/>
          </a:xfrm>
        </p:grpSpPr>
        <p:cxnSp>
          <p:nvCxnSpPr>
            <p:cNvPr id="5" name="Straight Arrow Connector 4">
              <a:extLst>
                <a:ext uri="{FF2B5EF4-FFF2-40B4-BE49-F238E27FC236}">
                  <a16:creationId xmlns:a16="http://schemas.microsoft.com/office/drawing/2014/main" id="{A3678F6E-F465-4999-BB5E-5048D256029C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956432" y="1902401"/>
              <a:ext cx="0" cy="3487616"/>
            </a:xfrm>
            <a:prstGeom prst="straightConnector1">
              <a:avLst/>
            </a:prstGeom>
            <a:ln w="28575">
              <a:headEnd type="triangl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" name="Straight Arrow Connector 6">
              <a:extLst>
                <a:ext uri="{FF2B5EF4-FFF2-40B4-BE49-F238E27FC236}">
                  <a16:creationId xmlns:a16="http://schemas.microsoft.com/office/drawing/2014/main" id="{1A5B3EA6-A1E5-43CE-A6CC-716751C84ED1}"/>
                </a:ext>
              </a:extLst>
            </p:cNvPr>
            <p:cNvCxnSpPr>
              <a:cxnSpLocks/>
            </p:cNvCxnSpPr>
            <p:nvPr/>
          </p:nvCxnSpPr>
          <p:spPr>
            <a:xfrm rot="5400000" flipV="1">
              <a:off x="9003324" y="1899138"/>
              <a:ext cx="0" cy="3487616"/>
            </a:xfrm>
            <a:prstGeom prst="straightConnector1">
              <a:avLst/>
            </a:prstGeom>
            <a:ln w="28575">
              <a:headEnd type="triangl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C021EEF7-E0BD-4A85-80E4-624ECA7DD40D}"/>
                </a:ext>
              </a:extLst>
            </p:cNvPr>
            <p:cNvSpPr/>
            <p:nvPr/>
          </p:nvSpPr>
          <p:spPr>
            <a:xfrm>
              <a:off x="9499716" y="3270351"/>
              <a:ext cx="1327736" cy="369332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lvl="1"/>
              <a:r>
                <a:rPr lang="en-US" i="1" dirty="0"/>
                <a:t>Chance</a:t>
              </a:r>
            </a:p>
          </p:txBody>
        </p: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8FCC9C0F-B2F6-4849-8FD0-CDBE690D9D90}"/>
                </a:ext>
              </a:extLst>
            </p:cNvPr>
            <p:cNvSpPr/>
            <p:nvPr/>
          </p:nvSpPr>
          <p:spPr>
            <a:xfrm>
              <a:off x="6942154" y="3273614"/>
              <a:ext cx="1013419" cy="369332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lvl="1"/>
              <a:r>
                <a:rPr lang="en-US" i="1" dirty="0"/>
                <a:t>Skill</a:t>
              </a:r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33A506E8-99B5-4CFA-B09D-5C173E957E18}"/>
                </a:ext>
              </a:extLst>
            </p:cNvPr>
            <p:cNvSpPr/>
            <p:nvPr/>
          </p:nvSpPr>
          <p:spPr>
            <a:xfrm>
              <a:off x="6589458" y="5020685"/>
              <a:ext cx="2413866" cy="369332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lvl="1"/>
              <a:r>
                <a:rPr lang="en-US" i="1" dirty="0"/>
                <a:t>Mental Calculation</a:t>
              </a:r>
            </a:p>
          </p:txBody>
        </p: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122CFD3F-716F-4F6B-B30B-DA5F0768FEAD}"/>
                </a:ext>
              </a:extLst>
            </p:cNvPr>
            <p:cNvSpPr/>
            <p:nvPr/>
          </p:nvSpPr>
          <p:spPr>
            <a:xfrm>
              <a:off x="9065353" y="1816546"/>
              <a:ext cx="2288447" cy="369332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lvl="1"/>
              <a:r>
                <a:rPr lang="en-US" i="1" dirty="0"/>
                <a:t>Physical Dexterity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49769730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2481B9-D2A9-499E-9514-EC360E321D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 our case …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DE04F98-B712-445C-BB3A-F7D6F263337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/>
              <a:t>One team at a time</a:t>
            </a:r>
          </a:p>
          <a:p>
            <a:r>
              <a:rPr lang="en-US" dirty="0"/>
              <a:t>Each Game</a:t>
            </a:r>
          </a:p>
          <a:p>
            <a:pPr lvl="1"/>
            <a:r>
              <a:rPr lang="en-US" dirty="0"/>
              <a:t>Come to the front:</a:t>
            </a:r>
          </a:p>
          <a:p>
            <a:pPr lvl="2"/>
            <a:r>
              <a:rPr lang="en-US" dirty="0"/>
              <a:t>Developer: VERY quickly, show us how to play your games and brief us on what to note</a:t>
            </a:r>
          </a:p>
          <a:p>
            <a:pPr lvl="1"/>
            <a:r>
              <a:rPr lang="en-US" dirty="0"/>
              <a:t>Everyone else (remember think out aloud)</a:t>
            </a:r>
          </a:p>
          <a:p>
            <a:pPr lvl="2"/>
            <a:r>
              <a:rPr lang="en-US" dirty="0"/>
              <a:t>At least one </a:t>
            </a:r>
            <a:r>
              <a:rPr lang="en-US" b="1" i="1" u="sng" dirty="0"/>
              <a:t>take notes </a:t>
            </a:r>
            <a:r>
              <a:rPr lang="en-US" dirty="0"/>
              <a:t>to post feedback</a:t>
            </a:r>
          </a:p>
          <a:p>
            <a:pPr lvl="2"/>
            <a:r>
              <a:rPr lang="en-US" dirty="0"/>
              <a:t>Remember to post your feedback</a:t>
            </a:r>
          </a:p>
          <a:p>
            <a:pPr lvl="2"/>
            <a:r>
              <a:rPr lang="en-US" b="1" i="1" dirty="0"/>
              <a:t>When question</a:t>
            </a:r>
            <a:r>
              <a:rPr lang="en-US" dirty="0"/>
              <a:t>, raise your hand and ask</a:t>
            </a:r>
          </a:p>
          <a:p>
            <a:pPr lvl="1"/>
            <a:r>
              <a:rPr lang="en-US" dirty="0"/>
              <a:t>Developers pay attention to for questions</a:t>
            </a:r>
          </a:p>
          <a:p>
            <a:pPr lvl="2"/>
            <a:r>
              <a:rPr lang="en-US" dirty="0"/>
              <a:t>Walk around to check out how people are playing</a:t>
            </a:r>
          </a:p>
          <a:p>
            <a:pPr lvl="2"/>
            <a:r>
              <a:rPr lang="en-US" b="1" i="1" u="sng" dirty="0"/>
              <a:t>Take notes</a:t>
            </a:r>
            <a:r>
              <a:rPr lang="en-US" b="1" dirty="0"/>
              <a:t>!! </a:t>
            </a:r>
            <a:r>
              <a:rPr lang="en-US" dirty="0"/>
              <a:t>(on all relevant information)</a:t>
            </a:r>
          </a:p>
          <a:p>
            <a:r>
              <a:rPr lang="en-US" dirty="0"/>
              <a:t>When time’s up, we switch team</a:t>
            </a:r>
          </a:p>
          <a:p>
            <a:pPr lvl="2"/>
            <a:endParaRPr lang="en-US" dirty="0"/>
          </a:p>
          <a:p>
            <a:pPr lvl="2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5027791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985717-7285-4E47-9A57-B13BC5BF4F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Implementation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EFCD8F0-35B6-49B9-93D5-244FB25F600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fontAlgn="ctr"/>
            <a:r>
              <a:rPr lang="en-US" dirty="0"/>
              <a:t>Observe classmates play our games</a:t>
            </a:r>
          </a:p>
          <a:p>
            <a:pPr fontAlgn="ctr"/>
            <a:r>
              <a:rPr lang="en-US" dirty="0"/>
              <a:t>Feedback:</a:t>
            </a:r>
          </a:p>
          <a:p>
            <a:pPr lvl="1" fontAlgn="ctr"/>
            <a:r>
              <a:rPr lang="en-US" dirty="0"/>
              <a:t>Considerations for feedback  (next slide)</a:t>
            </a:r>
          </a:p>
          <a:p>
            <a:pPr lvl="1" fontAlgn="ctr"/>
            <a:r>
              <a:rPr lang="en-US" dirty="0"/>
              <a:t>Template for feedback  (next slide)</a:t>
            </a:r>
          </a:p>
          <a:p>
            <a:pPr fontAlgn="ctr"/>
            <a:r>
              <a:rPr lang="en-US" dirty="0"/>
              <a:t>Mechanics of feedback </a:t>
            </a:r>
          </a:p>
          <a:p>
            <a:pPr lvl="1" fontAlgn="ctr"/>
            <a:r>
              <a:rPr lang="en-US" dirty="0"/>
              <a:t>Post as response to each team</a:t>
            </a:r>
          </a:p>
          <a:p>
            <a:pPr lvl="1" fontAlgn="ctr"/>
            <a:r>
              <a:rPr lang="en-US" dirty="0"/>
              <a:t>EVERY team must provide feedback for every other teams </a:t>
            </a:r>
          </a:p>
          <a:p>
            <a:pPr lvl="1" fontAlgn="ctr"/>
            <a:r>
              <a:rPr lang="en-US" dirty="0"/>
              <a:t>Deadline: </a:t>
            </a:r>
          </a:p>
          <a:p>
            <a:pPr lvl="2" fontAlgn="ctr"/>
            <a:r>
              <a:rPr lang="en-US" dirty="0"/>
              <a:t>Feedback by </a:t>
            </a:r>
            <a:r>
              <a:rPr lang="en-US" b="1" u="sng" dirty="0">
                <a:solidFill>
                  <a:srgbClr val="FF0000"/>
                </a:solidFill>
              </a:rPr>
              <a:t>midnight on the days of </a:t>
            </a:r>
            <a:r>
              <a:rPr lang="en-US" b="1" u="sng">
                <a:solidFill>
                  <a:srgbClr val="FF0000"/>
                </a:solidFill>
              </a:rPr>
              <a:t>the testing</a:t>
            </a:r>
            <a:endParaRPr lang="en-US" b="1" u="sng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57254977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hlinkClick r:id="rId2"/>
            <a:extLst>
              <a:ext uri="{FF2B5EF4-FFF2-40B4-BE49-F238E27FC236}">
                <a16:creationId xmlns:a16="http://schemas.microsoft.com/office/drawing/2014/main" id="{EEAF6E99-2A38-4E0F-8302-E7D17D8C602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3298" y="1374101"/>
            <a:ext cx="4514008" cy="5378151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05BF0218-26D5-4593-8BF8-C1C9E74BF5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Consideration and Template for feedback</a:t>
            </a:r>
          </a:p>
        </p:txBody>
      </p:sp>
      <p:pic>
        <p:nvPicPr>
          <p:cNvPr id="4" name="Content Placeholder 3">
            <a:hlinkClick r:id="rId4"/>
            <a:extLst>
              <a:ext uri="{FF2B5EF4-FFF2-40B4-BE49-F238E27FC236}">
                <a16:creationId xmlns:a16="http://schemas.microsoft.com/office/drawing/2014/main" id="{FA69C720-9296-43BC-A088-6B5F239DA4FF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5"/>
          <a:stretch>
            <a:fillRect/>
          </a:stretch>
        </p:blipFill>
        <p:spPr>
          <a:xfrm>
            <a:off x="5719270" y="1956253"/>
            <a:ext cx="5981318" cy="4351338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413371068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695EB26-79AA-45FA-B7C9-EDDDD103600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413504" y="1834769"/>
            <a:ext cx="4172712" cy="2993263"/>
          </a:xfrm>
        </p:spPr>
        <p:txBody>
          <a:bodyPr/>
          <a:lstStyle/>
          <a:p>
            <a:endParaRPr lang="en-US" dirty="0"/>
          </a:p>
          <a:p>
            <a:endParaRPr lang="en-US" dirty="0"/>
          </a:p>
          <a:p>
            <a:pPr marL="0" indent="0">
              <a:buNone/>
            </a:pPr>
            <a:r>
              <a:rPr lang="en-US" sz="5400" dirty="0"/>
              <a:t>Questions?</a:t>
            </a:r>
          </a:p>
        </p:txBody>
      </p:sp>
    </p:spTree>
    <p:extLst>
      <p:ext uri="{BB962C8B-B14F-4D97-AF65-F5344CB8AC3E}">
        <p14:creationId xmlns:p14="http://schemas.microsoft.com/office/powerpoint/2010/main" val="284505673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403</TotalTime>
  <Words>774</Words>
  <Application>Microsoft Office PowerPoint</Application>
  <PresentationFormat>Widescreen</PresentationFormat>
  <Paragraphs>132</Paragraphs>
  <Slides>16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20" baseType="lpstr">
      <vt:lpstr>Arial</vt:lpstr>
      <vt:lpstr>Calibri</vt:lpstr>
      <vt:lpstr>Calibri Light</vt:lpstr>
      <vt:lpstr>Office Theme</vt:lpstr>
      <vt:lpstr>Playtesting</vt:lpstr>
      <vt:lpstr>Involves</vt:lpstr>
      <vt:lpstr>Playtesting is NOT</vt:lpstr>
      <vt:lpstr>Playtesting Goals</vt:lpstr>
      <vt:lpstr>Playtesting and Interactive Design</vt:lpstr>
      <vt:lpstr>Recruitment</vt:lpstr>
      <vt:lpstr>Considerations for a playtest session</vt:lpstr>
      <vt:lpstr>A playtest session: plan and stick to the plan</vt:lpstr>
      <vt:lpstr>As developer: look for room to improve</vt:lpstr>
      <vt:lpstr>As a playtester: help to improve</vt:lpstr>
      <vt:lpstr>Methods of playtesting</vt:lpstr>
      <vt:lpstr>The Play Matrix</vt:lpstr>
      <vt:lpstr>In our case …</vt:lpstr>
      <vt:lpstr>Implementation </vt:lpstr>
      <vt:lpstr>Consideration and Template for feedback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Playtesting</dc:title>
  <dc:creator>Kelvin Sung</dc:creator>
  <cp:lastModifiedBy>Kelvin Sung</cp:lastModifiedBy>
  <cp:revision>34</cp:revision>
  <dcterms:created xsi:type="dcterms:W3CDTF">2020-11-18T18:14:01Z</dcterms:created>
  <dcterms:modified xsi:type="dcterms:W3CDTF">2026-07-19T23:58:00Z</dcterms:modified>
</cp:coreProperties>
</file>